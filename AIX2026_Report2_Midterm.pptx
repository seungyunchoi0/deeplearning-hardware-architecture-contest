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9" r:id="rId2"/>
    <p:sldId id="276" r:id="rId3"/>
    <p:sldId id="294" r:id="rId4"/>
    <p:sldId id="297" r:id="rId5"/>
    <p:sldId id="296" r:id="rId6"/>
    <p:sldId id="303" r:id="rId7"/>
    <p:sldId id="298" r:id="rId8"/>
    <p:sldId id="299" r:id="rId9"/>
    <p:sldId id="305" r:id="rId31"/>
    <p:sldId id="306" r:id="rId32"/>
    <p:sldId id="300" r:id="rId10"/>
    <p:sldId id="30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88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slide" Target="slides/slide27.xml"/><Relationship Id="rId32" Type="http://schemas.openxmlformats.org/officeDocument/2006/relationships/slide" Target="slides/slide2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F5FD2-31F0-4C0B-95CA-811A8A4E6F51}" type="datetimeFigureOut">
              <a:rPr lang="ko-KR" altLang="en-US" smtClean="0"/>
              <a:t>2026. 2. 25.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01942-F20C-4A08-95F5-2A6986C15C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2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64F1C930-B425-4849-901E-EDC7E9573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08D55B-1D39-49F6-BDF9-B7CE6C5D7DC3}"/>
              </a:ext>
            </a:extLst>
          </p:cNvPr>
          <p:cNvSpPr/>
          <p:nvPr userDrawn="1"/>
        </p:nvSpPr>
        <p:spPr>
          <a:xfrm>
            <a:off x="0" y="1285876"/>
            <a:ext cx="12192000" cy="46214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2544" y="0"/>
            <a:ext cx="1128581" cy="12339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409" y="42957"/>
            <a:ext cx="2410353" cy="111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7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77C0E-ACE4-48B6-B244-F66B32AD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6875" y="6442075"/>
            <a:ext cx="2743200" cy="365125"/>
          </a:xfrm>
        </p:spPr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08D55B-1D39-49F6-BDF9-B7CE6C5D7DC3}"/>
              </a:ext>
            </a:extLst>
          </p:cNvPr>
          <p:cNvSpPr/>
          <p:nvPr userDrawn="1"/>
        </p:nvSpPr>
        <p:spPr>
          <a:xfrm>
            <a:off x="-6350" y="0"/>
            <a:ext cx="12192000" cy="4864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583BE3-7F27-474B-8977-CB25A2A7B5C3}"/>
              </a:ext>
            </a:extLst>
          </p:cNvPr>
          <p:cNvSpPr/>
          <p:nvPr userDrawn="1"/>
        </p:nvSpPr>
        <p:spPr>
          <a:xfrm>
            <a:off x="330200" y="889000"/>
            <a:ext cx="11544300" cy="55753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D49890-BF7F-4409-A8FF-9A8E24AB5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00" y="644769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b="1" dirty="0"/>
              <a:t xml:space="preserve">Deep Learning Hardware </a:t>
            </a:r>
            <a:r>
              <a:rPr lang="ko-KR" altLang="en-US" b="1" dirty="0"/>
              <a:t>설계 경진대회</a:t>
            </a:r>
          </a:p>
        </p:txBody>
      </p:sp>
    </p:spTree>
    <p:extLst>
      <p:ext uri="{BB962C8B-B14F-4D97-AF65-F5344CB8AC3E}">
        <p14:creationId xmlns:p14="http://schemas.microsoft.com/office/powerpoint/2010/main" val="313381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2008D-9C27-40BA-B775-F52D9466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E39ACA-0A93-47F5-979C-E53DBB968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0649CB-9A62-4D67-8234-9B9709314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A47E10-2612-488A-BADC-A277CBC6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 xml:space="preserve">Deep Learning Hardware </a:t>
            </a:r>
            <a:r>
              <a:rPr lang="ko-KR" altLang="en-US"/>
              <a:t>설계 경진대회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906D9E-5209-4103-8D45-6D90E7DE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6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D94F0-E9F3-4EC9-B8AF-CD9D8134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33C8BF-75F1-45C5-9839-5855EAC5A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007452-F681-477A-B267-E63D9B252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4C9462-2C89-4297-8830-81E6E3B35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8D5A17-62F2-4724-9C56-464EB17F5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 xml:space="preserve">Deep Learning Hardware </a:t>
            </a:r>
            <a:r>
              <a:rPr lang="ko-KR" altLang="en-US"/>
              <a:t>설계 경진대회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065690-1435-441E-8BD2-FE0980DA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16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6E01D-4699-4EF1-ABD7-953ED35A6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B185D4-A1C1-4545-8C1B-DB14E31DA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3210D9-F903-4E4A-8771-96FE0016D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8BB4AE-5BB3-4B86-B8FB-36D92158A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083CBA-4246-4EC4-AE47-C8CA04441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8A8B5BE-EC0E-4AA9-A406-9975C9E89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0CF078-BB86-4EF9-8F9E-96633607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 xml:space="preserve">Deep Learning Hardware </a:t>
            </a:r>
            <a:r>
              <a:rPr lang="ko-KR" altLang="en-US"/>
              <a:t>설계 경진대회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695012-8856-4FE9-B815-227B227C3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73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5B2ED-1DA7-43ED-AAC8-4AA37C41D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1CEBB2-6046-4B5E-B235-F08DE0A4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A1D47D-AE3C-42DD-90F6-AD0EF464A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 xml:space="preserve">Deep Learning Hardware </a:t>
            </a:r>
            <a:r>
              <a:rPr lang="ko-KR" altLang="en-US"/>
              <a:t>설계 경진대회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F90000-0433-4E85-BEB9-178F63DC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432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45635C-58AB-425A-9E3F-8C89A9393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112AD96-B2B3-4E8F-B2F9-B6E1CED2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 xml:space="preserve">Deep Learning Hardware </a:t>
            </a:r>
            <a:r>
              <a:rPr lang="ko-KR" altLang="en-US"/>
              <a:t>설계 경진대회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EF97FC-B9D7-44B7-97B1-59260630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574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99AAD-A39C-44FC-833D-C4A44224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C13F7C-ADE5-4C54-9027-330624922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A43DAA-B250-423F-8CFC-7A16F09AA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930C77-21E6-4D82-A68F-3604A2791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A46602-62F7-48D9-9857-F729C476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 xml:space="preserve">Deep Learning Hardware </a:t>
            </a:r>
            <a:r>
              <a:rPr lang="ko-KR" altLang="en-US"/>
              <a:t>설계 경진대회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CB61B9-52AD-4FCD-AD42-1D11D9D5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14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60BD5-CBCB-4F08-9940-F0587D08E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7B3153-C435-4DE5-ACF6-B2E6D74D0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E893A5-43E2-4509-93E2-5641F2707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D959FC-792E-43B9-BC7F-5F5EA2CD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251CA3-FD33-4408-8886-DCC37109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 xml:space="preserve">Deep Learning Hardware </a:t>
            </a:r>
            <a:r>
              <a:rPr lang="ko-KR" altLang="en-US"/>
              <a:t>설계 경진대회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A3D5AD-6B2E-42BB-BC6D-01F6B56D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42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64DA0-5D4B-4E12-9A48-92CD86589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763B76-8FCD-42D6-B280-DEB6D9B52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3BF8F-669C-4200-84FE-AED47B44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CBE604-F7D8-4BAE-9E04-41B7D9619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 xml:space="preserve">Deep Learning Hardware </a:t>
            </a:r>
            <a:r>
              <a:rPr lang="ko-KR" altLang="en-US"/>
              <a:t>설계 경진대회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8DBE05-B6DC-47E1-9478-38F97002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56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E5758D-9FCA-4635-A589-09672613A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B575FB-7D72-49DD-ADB4-3C53C5C57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57CFBD-9D63-40E2-9663-27204A77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104657-C6C6-4EB3-B6CD-7299DB55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 xml:space="preserve">Deep Learning Hardware </a:t>
            </a:r>
            <a:r>
              <a:rPr lang="ko-KR" altLang="en-US"/>
              <a:t>설계 경진대회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ACAD7-4576-4C40-9416-9D25BC48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367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6BCFF35-802F-480F-B853-95CFF811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BFE3BF-58EC-4CE6-BE15-D32491AD6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5D5329-3041-45D6-931A-AF5CF60C5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19584" y="635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D49890-BF7F-4409-A8FF-9A8E24AB5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30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b="1" dirty="0"/>
              <a:t xml:space="preserve">Deep Learning Hardware </a:t>
            </a:r>
            <a:r>
              <a:rPr lang="ko-KR" altLang="en-US" b="1" dirty="0"/>
              <a:t>설계 경진대회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A601C4-51C6-4747-8667-BE42B82B3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B9D8C-A161-4084-924B-59152344AF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90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1 CuadroTexto">
            <a:extLst>
              <a:ext uri="{FF2B5EF4-FFF2-40B4-BE49-F238E27FC236}">
                <a16:creationId xmlns:a16="http://schemas.microsoft.com/office/drawing/2014/main" id="{05F308D7-0622-4CFF-BD7D-868C5D53AE8E}"/>
              </a:ext>
            </a:extLst>
          </p:cNvPr>
          <p:cNvSpPr txBox="1"/>
          <p:nvPr/>
        </p:nvSpPr>
        <p:spPr>
          <a:xfrm>
            <a:off x="1128614" y="1974780"/>
            <a:ext cx="993477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/>
              <a:t xml:space="preserve">2026 </a:t>
            </a:r>
            <a:r>
              <a:rPr lang="en-US" sz="4400" b="1" dirty="0"/>
              <a:t xml:space="preserve">Deep Learning Hardware </a:t>
            </a:r>
            <a:r>
              <a:rPr lang="ko-KR" altLang="en-US" sz="4400" b="1" dirty="0"/>
              <a:t xml:space="preserve">설계 </a:t>
            </a:r>
            <a:endParaRPr lang="en-US" altLang="ko-KR" sz="4400" b="1" dirty="0"/>
          </a:p>
          <a:p>
            <a:pPr algn="ctr"/>
            <a:r>
              <a:rPr lang="ko-KR" altLang="en-US" sz="4400" b="1" dirty="0"/>
              <a:t>경진대회</a:t>
            </a:r>
          </a:p>
        </p:txBody>
      </p:sp>
      <p:sp>
        <p:nvSpPr>
          <p:cNvPr id="7" name="25 CuadroTexto">
            <a:extLst>
              <a:ext uri="{FF2B5EF4-FFF2-40B4-BE49-F238E27FC236}">
                <a16:creationId xmlns:a16="http://schemas.microsoft.com/office/drawing/2014/main" id="{1DC17484-45DA-48A3-9212-A9336858EF3D}"/>
              </a:ext>
            </a:extLst>
          </p:cNvPr>
          <p:cNvSpPr txBox="1"/>
          <p:nvPr/>
        </p:nvSpPr>
        <p:spPr>
          <a:xfrm>
            <a:off x="1128614" y="5400000"/>
            <a:ext cx="9934771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Report 2 — 2026.03.27  |  Midterm Evaluation — RTL Simulation (conv_kern_tb)</a:t>
            </a:r>
          </a:p>
        </p:txBody>
      </p:sp>
      <p:sp>
        <p:nvSpPr>
          <p:cNvPr id="8" name="25 CuadroTexto">
            <a:extLst>
              <a:ext uri="{FF2B5EF4-FFF2-40B4-BE49-F238E27FC236}">
                <a16:creationId xmlns:a16="http://schemas.microsoft.com/office/drawing/2014/main" id="{661D1B72-2712-4369-A78E-F5A37EBEA985}"/>
              </a:ext>
            </a:extLst>
          </p:cNvPr>
          <p:cNvSpPr txBox="1"/>
          <p:nvPr/>
        </p:nvSpPr>
        <p:spPr>
          <a:xfrm>
            <a:off x="3481502" y="5984837"/>
            <a:ext cx="5228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9" name="25 CuadroTexto">
            <a:extLst>
              <a:ext uri="{FF2B5EF4-FFF2-40B4-BE49-F238E27FC236}">
                <a16:creationId xmlns:a16="http://schemas.microsoft.com/office/drawing/2014/main" id="{D9D4C0E8-AF20-431D-9213-17574A629316}"/>
              </a:ext>
            </a:extLst>
          </p:cNvPr>
          <p:cNvSpPr txBox="1"/>
          <p:nvPr/>
        </p:nvSpPr>
        <p:spPr>
          <a:xfrm>
            <a:off x="0" y="3800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Seungyun Choi (CONV04), Seokmin Kang (CONV00), Yunhwan Hwang (CONV02)</a:t>
            </a:r>
          </a:p>
        </p:txBody>
      </p:sp>
    </p:spTree>
    <p:extLst>
      <p:ext uri="{BB962C8B-B14F-4D97-AF65-F5344CB8AC3E}">
        <p14:creationId xmlns:p14="http://schemas.microsoft.com/office/powerpoint/2010/main" val="1238349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C93919-41FA-4B8F-8ED2-31C2EC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44CE1479-A7E6-4DBD-91EE-7EBF3F73B268}"/>
              </a:ext>
            </a:extLst>
          </p:cNvPr>
          <p:cNvSpPr txBox="1"/>
          <p:nvPr/>
        </p:nvSpPr>
        <p:spPr>
          <a:xfrm>
            <a:off x="330200" y="166829"/>
            <a:ext cx="1959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80B8-3FCC-4673-8F19-CAEC6C40DCC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77724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개요 </a:t>
            </a:r>
            <a:r>
              <a:rPr lang="en-US" altLang="ko-KR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 목표 및 최종 구현 결과</a:t>
            </a:r>
            <a:r>
              <a:rPr lang="en-US" altLang="ko-KR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아이디어 및 차별성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 세부내용 (HW 아키텍처 + RTL 시뮬레이션: CONV00 / CONV02 / CONV04)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 계획 및 추진방법</a:t>
            </a:r>
            <a:endParaRPr lang="en-US" altLang="ko-KR" sz="32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434300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ko-KR" sz="24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2006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C93919-41FA-4B8F-8ED2-31C2EC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44CE1479-A7E6-4DBD-91EE-7EBF3F73B268}"/>
              </a:ext>
            </a:extLst>
          </p:cNvPr>
          <p:cNvSpPr txBox="1"/>
          <p:nvPr/>
        </p:nvSpPr>
        <p:spPr>
          <a:xfrm>
            <a:off x="330200" y="166829"/>
            <a:ext cx="14606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1. </a:t>
            </a:r>
            <a:r>
              <a:rPr lang="ko-KR" altLang="en-US" sz="3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개요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80B8-3FCC-4673-8F19-CAEC6C40DCC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108468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anose="05000000000000000000" pitchFamily="2" charset="2"/>
              <a:buChar char="§"/>
              <a:defRPr/>
            </a:pPr>
            <a:r>
              <a:rPr lang="ko-KR" altLang="en-US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 목표</a:t>
            </a: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57200" lvl="1" indent="0">
              <a:buNone/>
              <a:defRPr/>
            </a:pPr>
            <a:r>
              <a:rPr lang="en" altLang="ko-KR" sz="2000" dirty="0"/>
              <a:t xml:space="preserve">FP32 </a:t>
            </a:r>
            <a:r>
              <a:rPr lang="ko-KR" altLang="en-US" sz="2000" dirty="0"/>
              <a:t xml:space="preserve">기반 </a:t>
            </a:r>
            <a:r>
              <a:rPr lang="en" altLang="ko-KR" sz="2000" dirty="0"/>
              <a:t xml:space="preserve">Tiny-YOLOv2 </a:t>
            </a:r>
            <a:r>
              <a:rPr lang="ko-KR" altLang="en-US" sz="2000" dirty="0"/>
              <a:t xml:space="preserve">모델을 하드웨어 제약 조건에 맞춰 정확도 손실을 최소화하며 </a:t>
            </a:r>
            <a:r>
              <a:rPr lang="en" altLang="ko-KR" sz="2000" dirty="0"/>
              <a:t>INT8</a:t>
            </a:r>
            <a:r>
              <a:rPr lang="ko-KR" altLang="en-US" sz="2000" dirty="0"/>
              <a:t>로 양자화</a:t>
            </a:r>
            <a:r>
              <a:rPr lang="en-US" altLang="ko-KR" sz="2000" dirty="0"/>
              <a:t>.</a:t>
            </a:r>
          </a:p>
          <a:p>
            <a:pPr marL="457200" lvl="1" indent="0">
              <a:buNone/>
              <a:defRPr/>
            </a:pP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57200" lvl="1" indent="0">
              <a:buNone/>
              <a:defRPr/>
            </a:pP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ko-KR" altLang="en-US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하드웨어 설계 제약 조건</a:t>
            </a: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DSP 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자원 최적화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모든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scale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factor(Multiplier)</a:t>
            </a:r>
            <a:r>
              <a:rPr lang="ko-KR" altLang="en-US" sz="16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en-US" altLang="ko-KR" sz="1600" baseline="30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</a:t>
            </a:r>
            <a:r>
              <a:rPr lang="ko-KR" altLang="en-US" sz="1600" baseline="30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형태로 제한하여 곱셈기를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Bit-shift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대체</a:t>
            </a:r>
            <a:endParaRPr lang="en-US" altLang="ko-KR" sz="16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연산 안전성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MAC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연산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시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32-bit </a:t>
            </a:r>
            <a:r>
              <a:rPr lang="ko-KR" altLang="en-US" sz="16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누산기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(Accumulator) 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의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overflow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(2</a:t>
            </a:r>
            <a:r>
              <a:rPr lang="en-US" altLang="ko-KR" sz="1600" baseline="30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31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-1)</a:t>
            </a:r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방지</a:t>
            </a:r>
            <a:endParaRPr lang="en-US" altLang="ko-KR" sz="16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>
              <a:buNone/>
              <a:defRPr/>
            </a:pP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altLang="ko-KR" sz="2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79675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C93919-41FA-4B8F-8ED2-31C2EC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44CE1479-A7E6-4DBD-91EE-7EBF3F73B268}"/>
              </a:ext>
            </a:extLst>
          </p:cNvPr>
          <p:cNvSpPr txBox="1"/>
          <p:nvPr/>
        </p:nvSpPr>
        <p:spPr>
          <a:xfrm>
            <a:off x="330200" y="166829"/>
            <a:ext cx="14606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1. </a:t>
            </a:r>
            <a:r>
              <a:rPr lang="ko-KR" altLang="en-US" sz="3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개요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80B8-3FCC-4673-8F19-CAEC6C40DCC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108468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anose="05000000000000000000" pitchFamily="2" charset="2"/>
              <a:buChar char="§"/>
              <a:defRPr/>
            </a:pPr>
            <a:r>
              <a:rPr lang="ko-KR" altLang="en-US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최종 구현 결과 </a:t>
            </a: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(software)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ko-KR" altLang="en-US" sz="1600" b="1" dirty="0"/>
              <a:t>최종 정확도</a:t>
            </a:r>
            <a:r>
              <a:rPr lang="en-US" altLang="ko-KR" sz="1600" b="1" dirty="0"/>
              <a:t>(</a:t>
            </a:r>
            <a:r>
              <a:rPr lang="en" altLang="ko-KR" sz="1600" b="1" dirty="0" err="1"/>
              <a:t>mAP</a:t>
            </a:r>
            <a:r>
              <a:rPr lang="en" altLang="ko-KR" sz="1600" b="1" dirty="0"/>
              <a:t>):</a:t>
            </a:r>
            <a:r>
              <a:rPr lang="en" altLang="ko-KR" sz="1600" dirty="0"/>
              <a:t xml:space="preserve"> </a:t>
            </a:r>
            <a:r>
              <a:rPr lang="en" altLang="ko-KR" sz="1600" b="1" dirty="0"/>
              <a:t>79.28%</a:t>
            </a:r>
            <a:r>
              <a:rPr lang="en" altLang="ko-KR" sz="1600" dirty="0"/>
              <a:t xml:space="preserve"> </a:t>
            </a:r>
            <a:r>
              <a:rPr lang="ko-KR" altLang="en-US" sz="1600" dirty="0"/>
              <a:t xml:space="preserve">달성 </a:t>
            </a:r>
            <a:r>
              <a:rPr lang="en-US" altLang="ko-KR" sz="1600" dirty="0"/>
              <a:t>(</a:t>
            </a:r>
            <a:r>
              <a:rPr lang="en" altLang="ko-KR" sz="1600" dirty="0"/>
              <a:t xml:space="preserve">FP32 </a:t>
            </a:r>
            <a:r>
              <a:rPr lang="ko-KR" altLang="en-US" sz="1600" dirty="0"/>
              <a:t xml:space="preserve">원본 모델을 상회하는 </a:t>
            </a:r>
            <a:r>
              <a:rPr lang="ko-KR" altLang="en-US" sz="1600" dirty="0" err="1"/>
              <a:t>극강의</a:t>
            </a:r>
            <a:r>
              <a:rPr lang="ko-KR" altLang="en-US" sz="1600" dirty="0"/>
              <a:t xml:space="preserve"> 정밀도 확보</a:t>
            </a:r>
            <a:r>
              <a:rPr lang="en-US" altLang="ko-KR" sz="1600" dirty="0"/>
              <a:t>)</a:t>
            </a:r>
            <a:endParaRPr lang="en-US" altLang="ko-KR" sz="16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57200" lvl="1" indent="0">
              <a:buNone/>
              <a:defRPr/>
            </a:pP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&lt;&lt;&lt;</a:t>
            </a:r>
            <a:r>
              <a:rPr lang="ko-KR" altLang="en-US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결과 </a:t>
            </a:r>
            <a:r>
              <a:rPr lang="ko-KR" altLang="en-US" sz="20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캡쳐본</a:t>
            </a: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&gt;&gt;&gt;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Quantization (</a:t>
            </a:r>
            <a:r>
              <a:rPr lang="en-US" altLang="ko-KR" sz="20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mAP</a:t>
            </a: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H/W inference results (@</a:t>
            </a:r>
            <a:r>
              <a:rPr lang="en-US" altLang="ko-KR" sz="20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XXXMHz</a:t>
            </a: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457200" lvl="1" indent="0">
              <a:buNone/>
              <a:defRPr/>
            </a:pP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altLang="ko-KR" sz="2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9245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C93919-41FA-4B8F-8ED2-31C2EC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44CE1479-A7E6-4DBD-91EE-7EBF3F73B268}"/>
              </a:ext>
            </a:extLst>
          </p:cNvPr>
          <p:cNvSpPr txBox="1"/>
          <p:nvPr/>
        </p:nvSpPr>
        <p:spPr>
          <a:xfrm>
            <a:off x="330200" y="166829"/>
            <a:ext cx="4150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2. </a:t>
            </a:r>
            <a:r>
              <a:rPr lang="ko-KR" altLang="en-US" sz="3200" b="1" dirty="0">
                <a:latin typeface="나눔바른고딕" panose="020B0600000101010101" charset="-127"/>
                <a:ea typeface="나눔바른고딕" panose="020B0600000101010101" charset="-127"/>
              </a:rPr>
              <a:t>아이디어 및 차별성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80B8-3FCC-4673-8F19-CAEC6C40DCC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108468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dirty="0"/>
              <a:t>기존 양자화 방법론의 한계</a:t>
            </a:r>
            <a:r>
              <a:rPr lang="en-US" altLang="ko-KR" sz="2000" b="1" dirty="0"/>
              <a:t>:</a:t>
            </a:r>
            <a:endParaRPr lang="ko-KR" altLang="en-US" sz="2000" dirty="0"/>
          </a:p>
          <a:p>
            <a:r>
              <a:rPr lang="ko-KR" altLang="en-US" sz="2000" dirty="0"/>
              <a:t>이미지 분류</a:t>
            </a:r>
            <a:r>
              <a:rPr lang="en-US" altLang="ko-KR" sz="2000" dirty="0"/>
              <a:t>(</a:t>
            </a:r>
            <a:r>
              <a:rPr lang="en" altLang="ko-KR" sz="2000" dirty="0"/>
              <a:t xml:space="preserve">Classification) </a:t>
            </a:r>
            <a:r>
              <a:rPr lang="ko-KR" altLang="en-US" sz="2000" dirty="0"/>
              <a:t xml:space="preserve">모델에 </a:t>
            </a:r>
            <a:r>
              <a:rPr lang="en" altLang="ko-KR" sz="2000" dirty="0"/>
              <a:t>Clipping</a:t>
            </a:r>
            <a:r>
              <a:rPr lang="ko-KR" altLang="en-US" sz="2000" dirty="0"/>
              <a:t>방식을 도입했으나</a:t>
            </a:r>
            <a:r>
              <a:rPr lang="en-US" altLang="ko-KR" sz="2000" dirty="0"/>
              <a:t xml:space="preserve">, </a:t>
            </a:r>
            <a:r>
              <a:rPr lang="ko-KR" altLang="en-US" sz="2000" dirty="0"/>
              <a:t xml:space="preserve">오히려 </a:t>
            </a:r>
            <a:r>
              <a:rPr lang="en" altLang="ko-KR" sz="2000" dirty="0" err="1"/>
              <a:t>mAP</a:t>
            </a:r>
            <a:r>
              <a:rPr lang="ko-KR" altLang="en-US" sz="2000" dirty="0"/>
              <a:t xml:space="preserve">가 </a:t>
            </a:r>
            <a:r>
              <a:rPr lang="en-US" altLang="ko-KR" sz="2000" dirty="0"/>
              <a:t>1.97%</a:t>
            </a:r>
            <a:r>
              <a:rPr lang="ko-KR" altLang="en-US" sz="2000" dirty="0"/>
              <a:t>로 급락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b="1" dirty="0"/>
              <a:t xml:space="preserve">원인 분석 </a:t>
            </a:r>
            <a:r>
              <a:rPr lang="en-US" altLang="ko-KR" sz="2000" b="1" dirty="0"/>
              <a:t>(</a:t>
            </a:r>
            <a:r>
              <a:rPr lang="en" altLang="ko-KR" sz="2000" b="1" dirty="0"/>
              <a:t>Our Insight):</a:t>
            </a:r>
            <a:endParaRPr lang="en" altLang="ko-KR" sz="2000" dirty="0"/>
          </a:p>
          <a:p>
            <a:r>
              <a:rPr lang="en" altLang="ko-KR" sz="2000" dirty="0"/>
              <a:t xml:space="preserve">YOLO </a:t>
            </a:r>
            <a:r>
              <a:rPr lang="ko-KR" altLang="en-US" sz="2000" dirty="0"/>
              <a:t xml:space="preserve">모델 특성상 </a:t>
            </a:r>
            <a:r>
              <a:rPr lang="en" altLang="ko-KR" sz="2000" dirty="0"/>
              <a:t>Feature Map</a:t>
            </a:r>
            <a:r>
              <a:rPr lang="ko-KR" altLang="en-US" sz="2000" dirty="0"/>
              <a:t>에서 급격히 증가하는 값은 단순 노이즈가 아닌</a:t>
            </a:r>
            <a:r>
              <a:rPr lang="en-US" altLang="ko-KR" sz="2000" dirty="0"/>
              <a:t xml:space="preserve"> </a:t>
            </a:r>
            <a:r>
              <a:rPr lang="ko-KR" altLang="en-US" sz="2000" dirty="0"/>
              <a:t>객체의 존재 확률</a:t>
            </a:r>
            <a:r>
              <a:rPr lang="en-US" altLang="ko-KR" sz="2000" dirty="0"/>
              <a:t>(</a:t>
            </a:r>
            <a:r>
              <a:rPr lang="en" altLang="ko-KR" sz="2000" dirty="0"/>
              <a:t>Confidence)</a:t>
            </a:r>
            <a:r>
              <a:rPr lang="ko-KR" altLang="en-US" sz="2000" dirty="0"/>
              <a:t xml:space="preserve">과 </a:t>
            </a:r>
            <a:r>
              <a:rPr lang="ko-KR" altLang="en-US" sz="2000" dirty="0" err="1"/>
              <a:t>바운딩</a:t>
            </a:r>
            <a:r>
              <a:rPr lang="ko-KR" altLang="en-US" sz="2000" dirty="0"/>
              <a:t xml:space="preserve"> 박스 좌표를 나타내는 신호</a:t>
            </a:r>
            <a:endParaRPr lang="en-US" altLang="ko-KR" sz="2000" dirty="0"/>
          </a:p>
          <a:p>
            <a:r>
              <a:rPr lang="ko-KR" altLang="en-US" sz="2000" dirty="0"/>
              <a:t xml:space="preserve">기존 방식처럼 이 값들을 </a:t>
            </a:r>
            <a:r>
              <a:rPr lang="en-US" altLang="ko-KR" sz="2000" dirty="0"/>
              <a:t>127</a:t>
            </a:r>
            <a:r>
              <a:rPr lang="ko-KR" altLang="en-US" sz="2000" dirty="0"/>
              <a:t>로 잘라버리면</a:t>
            </a:r>
            <a:r>
              <a:rPr lang="en-US" altLang="ko-KR" sz="2000" dirty="0"/>
              <a:t>(</a:t>
            </a:r>
            <a:r>
              <a:rPr lang="en" altLang="ko-KR" sz="2000" dirty="0"/>
              <a:t xml:space="preserve">Clipping) </a:t>
            </a:r>
            <a:r>
              <a:rPr lang="ko-KR" altLang="en-US" sz="2000" dirty="0"/>
              <a:t xml:space="preserve">네트워크가 객체를 인식하지 </a:t>
            </a:r>
            <a:r>
              <a:rPr lang="ko-KR" altLang="en-US" sz="2000" dirty="0" err="1"/>
              <a:t>못하게됨</a:t>
            </a:r>
            <a:endParaRPr lang="ko-KR" altLang="en-US" sz="2000" dirty="0"/>
          </a:p>
          <a:p>
            <a:pPr lvl="0">
              <a:buFont typeface="Wingdings" panose="05000000000000000000" pitchFamily="2" charset="2"/>
              <a:buChar char="§"/>
              <a:defRPr/>
            </a:pP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78813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B53F-856B-4CB3-7931-6707996D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44301EB-6A9E-75AF-C17F-96593044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8E414C73-AC39-5491-EE7C-CFC97A47883F}"/>
              </a:ext>
            </a:extLst>
          </p:cNvPr>
          <p:cNvSpPr txBox="1"/>
          <p:nvPr/>
        </p:nvSpPr>
        <p:spPr>
          <a:xfrm>
            <a:off x="330200" y="166829"/>
            <a:ext cx="4150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2. </a:t>
            </a:r>
            <a:r>
              <a:rPr lang="ko-KR" altLang="en-US" sz="3200" b="1" dirty="0">
                <a:latin typeface="나눔바른고딕" panose="020B0600000101010101" charset="-127"/>
                <a:ea typeface="나눔바른고딕" panose="020B0600000101010101" charset="-127"/>
              </a:rPr>
              <a:t>아이디어 및 차별성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2743F4-42CB-C588-7AF7-D3E4190D127F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108468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dirty="0"/>
              <a:t xml:space="preserve">차별화 전략 </a:t>
            </a:r>
            <a:endParaRPr lang="en-US" altLang="ko-KR" sz="2000" b="1" dirty="0"/>
          </a:p>
          <a:p>
            <a:r>
              <a:rPr lang="en-US" altLang="ko-KR" sz="2000" b="1" dirty="0"/>
              <a:t xml:space="preserve">Input Multiplier : </a:t>
            </a:r>
            <a:r>
              <a:rPr lang="ko-KR" altLang="en-US" sz="2000" b="1" dirty="0"/>
              <a:t xml:space="preserve">배율을 낮게 </a:t>
            </a:r>
            <a:r>
              <a:rPr lang="en-US" altLang="ko-KR" sz="2000" b="1" dirty="0"/>
              <a:t>(16~32)</a:t>
            </a:r>
            <a:r>
              <a:rPr lang="ko-KR" altLang="en-US" sz="2000" b="1" dirty="0"/>
              <a:t xml:space="preserve">세팅하여 </a:t>
            </a:r>
            <a:r>
              <a:rPr lang="en-US" altLang="ko-KR" sz="2000" b="1" dirty="0"/>
              <a:t>Clipping rate</a:t>
            </a:r>
            <a:r>
              <a:rPr lang="ko-KR" altLang="en-US" sz="2000" b="1" dirty="0" err="1"/>
              <a:t>를</a:t>
            </a:r>
            <a:r>
              <a:rPr lang="ko-KR" altLang="en-US" sz="2000" b="1" dirty="0"/>
              <a:t xml:space="preserve"> </a:t>
            </a:r>
            <a:r>
              <a:rPr lang="en-US" altLang="ko-KR" sz="2000" b="1" dirty="0"/>
              <a:t>0.00%</a:t>
            </a:r>
            <a:r>
              <a:rPr lang="ko-KR" altLang="en-US" sz="2000" b="1" dirty="0"/>
              <a:t xml:space="preserve"> 로 유지</a:t>
            </a:r>
            <a:r>
              <a:rPr lang="en-US" altLang="ko-KR" sz="2000" b="1" dirty="0"/>
              <a:t>.</a:t>
            </a:r>
            <a:br>
              <a:rPr lang="en-US" altLang="ko-KR" sz="2000" b="1" dirty="0"/>
            </a:br>
            <a:r>
              <a:rPr lang="en-US" altLang="ko-KR" sz="2000" b="1" dirty="0"/>
              <a:t xml:space="preserve">Outlier </a:t>
            </a:r>
            <a:r>
              <a:rPr lang="ko-KR" altLang="en-US" sz="2000" b="1" dirty="0"/>
              <a:t>의 손실을 차단</a:t>
            </a:r>
            <a:endParaRPr lang="ko-KR" altLang="en-US" sz="2000" dirty="0"/>
          </a:p>
          <a:p>
            <a:r>
              <a:rPr lang="en-US" altLang="ko-KR" sz="2000" dirty="0"/>
              <a:t>Weight</a:t>
            </a:r>
            <a:r>
              <a:rPr lang="ko-KR" altLang="en-US" sz="2000" dirty="0"/>
              <a:t xml:space="preserve"> </a:t>
            </a:r>
            <a:r>
              <a:rPr lang="en-US" altLang="ko-KR" sz="2000" dirty="0"/>
              <a:t>Multiplier</a:t>
            </a:r>
            <a:r>
              <a:rPr lang="ko-KR" altLang="en-US" sz="2000" dirty="0"/>
              <a:t xml:space="preserve"> </a:t>
            </a:r>
            <a:r>
              <a:rPr lang="en-US" altLang="ko-KR" sz="2000" dirty="0"/>
              <a:t>:</a:t>
            </a:r>
            <a:r>
              <a:rPr lang="ko-KR" altLang="en-US" sz="2000" dirty="0"/>
              <a:t xml:space="preserve"> 낮아진 입력 해상도로 인한 연산 손실을 막기 위해 가중치</a:t>
            </a:r>
            <a:br>
              <a:rPr lang="en-US" altLang="ko-KR" sz="2000" dirty="0"/>
            </a:br>
            <a:r>
              <a:rPr lang="ko-KR" altLang="en-US" sz="2000" dirty="0"/>
              <a:t>배율을 크게 증폭</a:t>
            </a:r>
            <a:r>
              <a:rPr lang="en-US" altLang="ko-KR" sz="2000" dirty="0"/>
              <a:t>(256)</a:t>
            </a:r>
            <a:r>
              <a:rPr lang="ko-KR" altLang="en-US" sz="2000" dirty="0"/>
              <a:t>하여 균형을 맞춤</a:t>
            </a:r>
            <a:endParaRPr lang="en-US" altLang="ko-KR" sz="2000" dirty="0"/>
          </a:p>
          <a:p>
            <a:pPr lvl="0">
              <a:buFont typeface="Wingdings" panose="05000000000000000000" pitchFamily="2" charset="2"/>
              <a:buChar char="§"/>
              <a:defRPr/>
            </a:pP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Output Layer </a:t>
            </a:r>
            <a:r>
              <a:rPr lang="ko-KR" altLang="en-US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정밀도 극대화 </a:t>
            </a: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</a:t>
            </a:r>
            <a:r>
              <a:rPr lang="ko-KR" altLang="en-US" sz="20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바운딩</a:t>
            </a:r>
            <a:r>
              <a:rPr lang="ko-KR" altLang="en-US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박스 좌표를 회귀</a:t>
            </a: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(Regression) </a:t>
            </a:r>
            <a:r>
              <a:rPr lang="ko-KR" altLang="en-US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하는 마지막 레이어의</a:t>
            </a:r>
            <a:b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가중치는 </a:t>
            </a: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523</a:t>
            </a:r>
            <a:r>
              <a:rPr lang="ko-KR" altLang="en-US" sz="20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</a:t>
            </a:r>
            <a:r>
              <a:rPr lang="ko-KR" altLang="en-US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 부여하여 정확도를 상승시킴</a:t>
            </a:r>
            <a:endParaRPr lang="en-US" altLang="ko-KR" sz="2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5142D-DE6F-CF19-0C20-973F4E9CD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94128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C93919-41FA-4B8F-8ED2-31C2EC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44CE1479-A7E6-4DBD-91EE-7EBF3F73B268}"/>
              </a:ext>
            </a:extLst>
          </p:cNvPr>
          <p:cNvSpPr txBox="1"/>
          <p:nvPr/>
        </p:nvSpPr>
        <p:spPr>
          <a:xfrm>
            <a:off x="330200" y="166829"/>
            <a:ext cx="32159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3. </a:t>
            </a:r>
            <a:r>
              <a:rPr lang="ko-KR" altLang="en-US" sz="3200" b="1" dirty="0">
                <a:latin typeface="나눔바른고딕" panose="020B0600000101010101" charset="-127"/>
                <a:ea typeface="나눔바른고딕" panose="020B0600000101010101" charset="-127"/>
              </a:rPr>
              <a:t>설계 세부내용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80B8-3FCC-4673-8F19-CAEC6C40DCC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108468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 xml:space="preserve">대칭형 선형 양자화 </a:t>
            </a:r>
            <a:r>
              <a:rPr lang="en-US" altLang="ko-KR" b="1" dirty="0"/>
              <a:t>(</a:t>
            </a:r>
            <a:r>
              <a:rPr lang="en" altLang="ko-KR" b="1" dirty="0"/>
              <a:t>Symmetric Linear Quantization):</a:t>
            </a:r>
            <a:endParaRPr lang="en" altLang="ko-KR" dirty="0"/>
          </a:p>
          <a:p>
            <a:r>
              <a:rPr lang="en" altLang="ko-KR" dirty="0"/>
              <a:t>Zero-point(</a:t>
            </a:r>
            <a:r>
              <a:rPr lang="ko-KR" altLang="en-US" dirty="0"/>
              <a:t>오프셋</a:t>
            </a:r>
            <a:r>
              <a:rPr lang="en-US" altLang="ko-KR" dirty="0"/>
              <a:t xml:space="preserve">) </a:t>
            </a:r>
            <a:r>
              <a:rPr lang="ko-KR" altLang="en-US" dirty="0"/>
              <a:t>덧셈 연산을 제거하여 하드웨어 복잡도 최소화</a:t>
            </a:r>
            <a:r>
              <a:rPr lang="en-US" altLang="ko-KR" dirty="0"/>
              <a:t>.</a:t>
            </a:r>
          </a:p>
          <a:p>
            <a:r>
              <a:rPr lang="en" altLang="ko-KR" dirty="0"/>
              <a:t>Q(x) =</a:t>
            </a:r>
            <a:r>
              <a:rPr lang="ko-KR" altLang="en-US" dirty="0"/>
              <a:t xml:space="preserve"> </a:t>
            </a:r>
            <a:r>
              <a:rPr lang="en" altLang="ko-KR" dirty="0"/>
              <a:t>clamp(round</a:t>
            </a:r>
            <a:r>
              <a:rPr lang="en-US" altLang="ko-KR" dirty="0"/>
              <a:t>(</a:t>
            </a:r>
            <a:r>
              <a:rPr lang="en" altLang="ko-KR" dirty="0"/>
              <a:t xml:space="preserve">x </a:t>
            </a:r>
            <a:r>
              <a:rPr lang="en-US" altLang="ko-KR" dirty="0"/>
              <a:t xml:space="preserve">* </a:t>
            </a:r>
            <a:r>
              <a:rPr lang="en" altLang="ko-KR" dirty="0"/>
              <a:t>S), -127, 127)</a:t>
            </a:r>
          </a:p>
          <a:p>
            <a:r>
              <a:rPr lang="ko-KR" altLang="en-US" b="1" dirty="0"/>
              <a:t>실시간 모니터링 로직 구현</a:t>
            </a:r>
            <a:r>
              <a:rPr lang="en-US" altLang="ko-KR" b="1" dirty="0"/>
              <a:t>:</a:t>
            </a:r>
            <a:endParaRPr lang="ko-KR" altLang="en-US" dirty="0"/>
          </a:p>
          <a:p>
            <a:r>
              <a:rPr lang="ko-KR" altLang="en-US" dirty="0"/>
              <a:t xml:space="preserve">각 레이어 연산 시 </a:t>
            </a:r>
            <a:r>
              <a:rPr lang="en-US" altLang="ko-KR" dirty="0"/>
              <a:t xml:space="preserve"> </a:t>
            </a:r>
            <a:r>
              <a:rPr lang="en" altLang="ko-KR" dirty="0"/>
              <a:t xml:space="preserve">Input Clipping </a:t>
            </a:r>
            <a:r>
              <a:rPr lang="ko-KR" altLang="en-US" dirty="0"/>
              <a:t>비율</a:t>
            </a:r>
            <a:r>
              <a:rPr lang="en-US" altLang="ko-KR" dirty="0"/>
              <a:t>(%)</a:t>
            </a:r>
            <a:r>
              <a:rPr lang="ko-KR" altLang="en-US" dirty="0"/>
              <a:t>과</a:t>
            </a:r>
            <a:r>
              <a:rPr lang="en-US" altLang="ko-KR" b="1" dirty="0"/>
              <a:t xml:space="preserve"> </a:t>
            </a:r>
            <a:r>
              <a:rPr lang="en" altLang="ko-KR" b="1" dirty="0"/>
              <a:t xml:space="preserve">Max Accumulator </a:t>
            </a:r>
            <a:r>
              <a:rPr lang="ko-KR" altLang="en-US" b="1" dirty="0"/>
              <a:t>값</a:t>
            </a:r>
            <a:r>
              <a:rPr lang="ko-KR" altLang="en-US" dirty="0"/>
              <a:t>을 터미널에 출력하는 코드를 삽입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오버플로우</a:t>
            </a:r>
            <a:r>
              <a:rPr lang="ko-KR" altLang="en-US" dirty="0"/>
              <a:t xml:space="preserve"> 한계선을 실시간으로 모니터링하며 파라미터를 조율함</a:t>
            </a:r>
            <a:r>
              <a:rPr lang="en-US" altLang="ko-KR" dirty="0"/>
              <a:t>.</a:t>
            </a:r>
          </a:p>
          <a:p>
            <a:endParaRPr lang="en" altLang="ko-KR" dirty="0"/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altLang="ko-KR" sz="2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45787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C93919-41FA-4B8F-8ED2-31C2EC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44CE1479-A7E6-4DBD-91EE-7EBF3F73B268}"/>
              </a:ext>
            </a:extLst>
          </p:cNvPr>
          <p:cNvSpPr txBox="1"/>
          <p:nvPr/>
        </p:nvSpPr>
        <p:spPr>
          <a:xfrm>
            <a:off x="330200" y="166829"/>
            <a:ext cx="32159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3. </a:t>
            </a:r>
            <a:r>
              <a:rPr lang="ko-KR" altLang="en-US" sz="3200" b="1" dirty="0">
                <a:latin typeface="나눔바른고딕" panose="020B0600000101010101" charset="-127"/>
                <a:ea typeface="나눔바른고딕" panose="020B0600000101010101" charset="-127"/>
              </a:rPr>
              <a:t>설계 세부내용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80B8-3FCC-4673-8F19-CAEC6C40DCC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108468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RTL 시뮬레이션 결과 — CONV00 (담당: Seokmin Kang)</a:t>
            </a:r>
            <a:endParaRPr lang="en" altLang="ko-KR" sz="2400" dirty="0"/>
          </a:p>
          <a:p>
            <a:r>
              <a:rPr lang="ko-KR" altLang="en-US" sz="2400" b="1" dirty="0"/>
              <a:t>레이어 파라미터:</a:t>
            </a:r>
            <a:r>
              <a:rPr lang="en" altLang="ko-KR" sz="2400" dirty="0"/>
              <a:t xml:space="preserve">  Ni=3, No=16, W=256, H=256, shift=7 (scale=128x32/32=128)</a:t>
            </a:r>
            <a:endParaRPr lang="en" altLang="ko-KR" sz="2400" dirty="0"/>
          </a:p>
          <a:p>
            <a:r>
              <a:rPr lang="ko-KR" altLang="en-US" sz="2400" b="1" dirty="0"/>
              <a:t>수정 내용 (define.v):</a:t>
            </a:r>
            <a:endParaRPr lang="en" altLang="ko-KR" sz="2400" dirty="0"/>
          </a:p>
          <a:p>
            <a:r>
              <a:rPr lang="en" altLang="ko-KR" sz="2200" dirty="0"/>
              <a:t xml:space="preserve">  - IFM_FILE_ALL: CONV00_input.hex (Ni*H*W = 196,608 bytes)</a:t>
            </a:r>
            <a:endParaRPr lang="en" altLang="ko-KR" sz="2200" dirty="0"/>
          </a:p>
          <a:p>
            <a:r>
              <a:rPr lang="en" altLang="ko-KR" sz="2200" dirty="0"/>
              <a:t xml:space="preserve">  - WGT_FILE: CONV00_param_weight.hex (112 lines, TI=4 packed)</a:t>
            </a:r>
            <a:endParaRPr lang="en" altLang="ko-KR" sz="2200" dirty="0"/>
          </a:p>
          <a:p>
            <a:r>
              <a:rPr lang="ko-KR" altLang="en-US" sz="2400" b="1" dirty="0"/>
              <a:t>시뮬레이션 결과:</a:t>
            </a:r>
            <a:endParaRPr lang="en" altLang="ko-KR" sz="2400" dirty="0"/>
          </a:p>
          <a:p>
            <a:r>
              <a:rPr lang="en" altLang="ko-KR" sz="2200" dirty="0"/>
              <a:t xml:space="preserve">  - BMP 출력: CONV00_output_ch00~ch11 (256x256, 12채널)</a:t>
            </a:r>
            <a:endParaRPr lang="en" altLang="ko-KR" sz="2200" dirty="0"/>
          </a:p>
          <a:p>
            <a:r>
              <a:rPr lang="en" altLang="ko-KR" sz="2200" dirty="0"/>
              <a:t xml:space="preserve">  - SW(CONV00_output.hex) vs HW 픽셀 단위 비교</a:t>
            </a:r>
            <a:endParaRPr lang="en" altLang="ko-KR" sz="2200" dirty="0"/>
          </a:p>
          <a:p>
            <a:r>
              <a:rPr lang="ko-KR" altLang="en-US" sz="2200" dirty="0"/>
              <a:t xml:space="preserve">  ※ 이미지 및 파형 캡처 별도 삽입 예정</a:t>
            </a:r>
            <a:endParaRPr lang="en" altLang="ko-KR" sz="2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26207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C93919-41FA-4B8F-8ED2-31C2EC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44CE1479-A7E6-4DBD-91EE-7EBF3F73B268}"/>
              </a:ext>
            </a:extLst>
          </p:cNvPr>
          <p:cNvSpPr txBox="1"/>
          <p:nvPr/>
        </p:nvSpPr>
        <p:spPr>
          <a:xfrm>
            <a:off x="330200" y="166829"/>
            <a:ext cx="46746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latin typeface="나눔바른고딕" panose="020B0600000101010101" charset="-127"/>
                <a:ea typeface="나눔바른고딕" panose="020B0600000101010101" charset="-127"/>
              </a:rPr>
              <a:t xml:space="preserve">4. </a:t>
            </a:r>
            <a:r>
              <a:rPr lang="ko-KR" altLang="en-US" sz="3200" b="1" dirty="0">
                <a:latin typeface="나눔바른고딕" panose="020B0600000101010101" charset="-127"/>
                <a:ea typeface="나눔바른고딕" panose="020B0600000101010101" charset="-127"/>
              </a:rPr>
              <a:t>일정 계획 및 추진방법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80B8-3FCC-4673-8F19-CAEC6C40DCC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108468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추진 일정 및 방법</a:t>
            </a:r>
            <a:endParaRPr lang="en-US" altLang="ko-KR" sz="2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업무 분장</a:t>
            </a:r>
            <a:r>
              <a:rPr lang="en-US" altLang="ko-KR" sz="20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: 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Algorithm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구현 및 평가 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/ H/W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설계 및 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FPGA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구현 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/ Test Bench 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 및 검증</a:t>
            </a: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altLang="ko-KR" sz="2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  <p:graphicFrame>
        <p:nvGraphicFramePr>
          <p:cNvPr id="6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046832"/>
              </p:ext>
            </p:extLst>
          </p:nvPr>
        </p:nvGraphicFramePr>
        <p:xfrm>
          <a:off x="1400616" y="2586512"/>
          <a:ext cx="9123370" cy="3505200"/>
        </p:xfrm>
        <a:graphic>
          <a:graphicData uri="http://schemas.openxmlformats.org/drawingml/2006/table">
            <a:tbl>
              <a:tblPr/>
              <a:tblGrid>
                <a:gridCol w="2064470">
                  <a:extLst>
                    <a:ext uri="{9D8B030D-6E8A-4147-A177-3AD203B41FA5}">
                      <a16:colId xmlns:a16="http://schemas.microsoft.com/office/drawing/2014/main" val="717838880"/>
                    </a:ext>
                  </a:extLst>
                </a:gridCol>
                <a:gridCol w="2064470">
                  <a:extLst>
                    <a:ext uri="{9D8B030D-6E8A-4147-A177-3AD203B41FA5}">
                      <a16:colId xmlns:a16="http://schemas.microsoft.com/office/drawing/2014/main" val="2692410054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4284911000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906100293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3581238000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1693544570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3672962302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3256619020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2585039604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3039165599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4193691118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2291090714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3897003212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684022352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2309679556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1865999859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2488533360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3009803219"/>
                    </a:ext>
                  </a:extLst>
                </a:gridCol>
                <a:gridCol w="293790">
                  <a:extLst>
                    <a:ext uri="{9D8B030D-6E8A-4147-A177-3AD203B41FA5}">
                      <a16:colId xmlns:a16="http://schemas.microsoft.com/office/drawing/2014/main" val="71263076"/>
                    </a:ext>
                  </a:extLst>
                </a:gridCol>
              </a:tblGrid>
              <a:tr h="14345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Category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Item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February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March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April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May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095790"/>
                  </a:ext>
                </a:extLst>
              </a:tr>
              <a:tr h="1434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664839"/>
                  </a:ext>
                </a:extLst>
              </a:tr>
              <a:tr h="10042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Study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 xml:space="preserve">가속기 관련 논문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Study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764074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907046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999450"/>
                  </a:ext>
                </a:extLst>
              </a:tr>
              <a:tr h="100421">
                <a:tc rowSpan="9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Algorithm</a:t>
                      </a:r>
                      <a:endParaRPr lang="en-US" sz="12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구현 및 평가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Quantization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방법 결정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668439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827373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751982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 xml:space="preserve">quantization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374505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394262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106712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Data Reordering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196343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659106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090404"/>
                  </a:ext>
                </a:extLst>
              </a:tr>
              <a:tr h="100421">
                <a:tc rowSpan="6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Test Bench</a:t>
                      </a: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설계 및 검증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single/multi layer TB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761067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0849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677362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 xml:space="preserve">TB update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w/ fixed C-model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929104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012854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817461"/>
                  </a:ext>
                </a:extLst>
              </a:tr>
              <a:tr h="100421">
                <a:tc rowSpan="1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H/W</a:t>
                      </a:r>
                      <a:r>
                        <a:rPr 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 xml:space="preserve"> </a:t>
                      </a: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설계 및</a:t>
                      </a:r>
                      <a:endParaRPr lang="en-US" altLang="ko-KR" sz="12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 xml:space="preserve">FPGA </a:t>
                      </a:r>
                      <a:r>
                        <a:rPr lang="ko-KR" altLang="en-US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구현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 xml:space="preserve">Block Diagram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작성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859345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043128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097217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Shared global buffer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 xml:space="preserve">feasibility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확인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575995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8361632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063609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 xml:space="preserve">RTL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설계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57393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452527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498617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 xml:space="preserve">RTL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검증 및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 xml:space="preserve">FPGA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최적화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3784675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469287"/>
                  </a:ext>
                </a:extLst>
              </a:tr>
              <a:tr h="100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024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104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C93919-41FA-4B8F-8ED2-31C2EC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44CE1479-A7E6-4DBD-91EE-7EBF3F73B268}"/>
              </a:ext>
            </a:extLst>
          </p:cNvPr>
          <p:cNvSpPr txBox="1"/>
          <p:nvPr/>
        </p:nvSpPr>
        <p:spPr>
          <a:xfrm>
            <a:off x="330200" y="166829"/>
            <a:ext cx="22813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latin typeface="나눔바른고딕" panose="020B0600000101010101" charset="-127"/>
                <a:ea typeface="나눔바른고딕" panose="020B0600000101010101" charset="-127"/>
              </a:rPr>
              <a:t xml:space="preserve">5. </a:t>
            </a:r>
            <a:r>
              <a:rPr lang="ko-KR" altLang="en-US" sz="3200" b="1" dirty="0">
                <a:latin typeface="나눔바른고딕" panose="020B0600000101010101" charset="-127"/>
                <a:ea typeface="나눔바른고딕" panose="020B0600000101010101" charset="-127"/>
              </a:rPr>
              <a:t>기타사항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80B8-3FCC-4673-8F19-CAEC6C40DCC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108468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Wingdings" panose="05000000000000000000" pitchFamily="2" charset="2"/>
              <a:buChar char="§"/>
              <a:defRPr/>
            </a:pPr>
            <a:r>
              <a:rPr lang="en-US" altLang="ko-KR" sz="2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Any issue 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altLang="ko-KR" sz="2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8930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C93919-41FA-4B8F-8ED2-31C2EC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44CE1479-A7E6-4DBD-91EE-7EBF3F73B268}"/>
              </a:ext>
            </a:extLst>
          </p:cNvPr>
          <p:cNvSpPr txBox="1"/>
          <p:nvPr/>
        </p:nvSpPr>
        <p:spPr>
          <a:xfrm>
            <a:off x="330200" y="166829"/>
            <a:ext cx="32159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3. </a:t>
            </a:r>
            <a:r>
              <a:rPr lang="ko-KR" altLang="en-US" sz="3200" b="1" dirty="0">
                <a:latin typeface="나눔바른고딕" panose="020B0600000101010101" charset="-127"/>
                <a:ea typeface="나눔바른고딕" panose="020B0600000101010101" charset="-127"/>
              </a:rPr>
              <a:t>설계 세부내용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80B8-3FCC-4673-8F19-CAEC6C40DCC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108468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RTL 시뮬레이션 결과 — CONV02 (담당: Yunhwan Hwang)</a:t>
            </a:r>
            <a:endParaRPr lang="en" altLang="ko-KR" sz="2400" dirty="0"/>
          </a:p>
          <a:p>
            <a:r>
              <a:rPr lang="ko-KR" altLang="en-US" sz="2400" b="1" dirty="0"/>
              <a:t>레이어 파라미터:</a:t>
            </a:r>
            <a:r>
              <a:rPr lang="en" altLang="ko-KR" sz="2400" dirty="0"/>
              <a:t xml:space="preserve">  Ni=16, No=32, W=128, H=128, shift=8 (scale=32x256/32=256)</a:t>
            </a:r>
            <a:endParaRPr lang="en" altLang="ko-KR" sz="2400" dirty="0"/>
          </a:p>
          <a:p>
            <a:r>
              <a:rPr lang="ko-KR" altLang="en-US" sz="2400" b="1" dirty="0"/>
              <a:t>수정 내용 (define.v → CONV02 설정):</a:t>
            </a:r>
            <a:endParaRPr lang="en" altLang="ko-KR" sz="2400" dirty="0"/>
          </a:p>
          <a:p>
            <a:r>
              <a:rPr lang="en" altLang="ko-KR" sz="2200" dirty="0"/>
              <a:t xml:space="preserve">  - IFM_FILE_ALL: CONV02_input.hex (Ni*H*W = 262,144 bytes)</a:t>
            </a:r>
            <a:endParaRPr lang="en" altLang="ko-KR" sz="2200" dirty="0"/>
          </a:p>
          <a:p>
            <a:r>
              <a:rPr lang="en" altLang="ko-KR" sz="2200" dirty="0"/>
              <a:t xml:space="preserve">  - WGT_FILE: CONV02_param_weight.hex (1152 lines, TI=4 packed)</a:t>
            </a:r>
            <a:endParaRPr lang="en" altLang="ko-KR" sz="2200" dirty="0"/>
          </a:p>
          <a:p>
            <a:r>
              <a:rPr lang="ko-KR" altLang="en-US" sz="2400" b="1" dirty="0"/>
              <a:t>시뮬레이션 결과:</a:t>
            </a:r>
            <a:endParaRPr lang="en" altLang="ko-KR" sz="2400" dirty="0"/>
          </a:p>
          <a:p>
            <a:r>
              <a:rPr lang="en" altLang="ko-KR" sz="2200" dirty="0"/>
              <a:t xml:space="preserve">  - BMP 출력: CONV02_output_ch00~ch11 (128x128, 12채널)</a:t>
            </a:r>
            <a:endParaRPr lang="en" altLang="ko-KR" sz="2200" dirty="0"/>
          </a:p>
          <a:p>
            <a:r>
              <a:rPr lang="en" altLang="ko-KR" sz="2200" dirty="0"/>
              <a:t xml:space="preserve">  - SW(CONV02_output.hex) vs HW 픽셀 단위 비교</a:t>
            </a:r>
            <a:endParaRPr lang="en" altLang="ko-KR" sz="2200" dirty="0"/>
          </a:p>
          <a:p>
            <a:r>
              <a:rPr lang="ko-KR" altLang="en-US" sz="2200" dirty="0"/>
              <a:t xml:space="preserve">  ※ 이미지 및 파형 캡처 별도 삽입 예정</a:t>
            </a:r>
            <a:endParaRPr lang="en" altLang="ko-KR" sz="2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26207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C93919-41FA-4B8F-8ED2-31C2EC5B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11 CuadroTexto">
            <a:extLst>
              <a:ext uri="{FF2B5EF4-FFF2-40B4-BE49-F238E27FC236}">
                <a16:creationId xmlns:a16="http://schemas.microsoft.com/office/drawing/2014/main" id="{44CE1479-A7E6-4DBD-91EE-7EBF3F73B268}"/>
              </a:ext>
            </a:extLst>
          </p:cNvPr>
          <p:cNvSpPr txBox="1"/>
          <p:nvPr/>
        </p:nvSpPr>
        <p:spPr>
          <a:xfrm>
            <a:off x="330200" y="166829"/>
            <a:ext cx="32159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 xml:space="preserve">3. </a:t>
            </a:r>
            <a:r>
              <a:rPr lang="ko-KR" altLang="en-US" sz="3200" b="1" dirty="0">
                <a:latin typeface="나눔바른고딕" panose="020B0600000101010101" charset="-127"/>
                <a:ea typeface="나눔바른고딕" panose="020B0600000101010101" charset="-127"/>
              </a:rPr>
              <a:t>설계 세부내용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680B8-3FCC-4673-8F19-CAEC6C40DCC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82472"/>
            <a:ext cx="10846800" cy="4464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RTL 시뮬레이션 결과 — CONV04 (담당: Seungyun Choi)</a:t>
            </a:r>
            <a:endParaRPr lang="en" altLang="ko-KR" sz="2400" dirty="0"/>
          </a:p>
          <a:p>
            <a:r>
              <a:rPr lang="ko-KR" altLang="en-US" sz="2400" b="1" dirty="0"/>
              <a:t>레이어 파라미터:</a:t>
            </a:r>
            <a:r>
              <a:rPr lang="en" altLang="ko-KR" sz="2400" dirty="0"/>
              <a:t xml:space="preserve">  Ni=32, No=64, W=64, H=64, shift=9 (scale=32x256/16=512)</a:t>
            </a:r>
            <a:endParaRPr lang="en" altLang="ko-KR" sz="2400" dirty="0"/>
          </a:p>
          <a:p>
            <a:r>
              <a:rPr lang="ko-KR" altLang="en-US" sz="2400" b="1" dirty="0"/>
              <a:t>수정 내용 (define_CONV04.v / conv04_kern_tb.v):</a:t>
            </a:r>
            <a:endParaRPr lang="en" altLang="ko-KR" sz="2400" dirty="0"/>
          </a:p>
          <a:p>
            <a:r>
              <a:rPr lang="en" altLang="ko-KR" sz="2200" dirty="0"/>
              <a:t xml:space="preserve">  - Shift 수정: [19:12] → [16:9] (CONV04 shift=9, 2^9=512)</a:t>
            </a:r>
            <a:endParaRPr lang="en" altLang="ko-KR" sz="2200" dirty="0"/>
          </a:p>
          <a:p>
            <a:r>
              <a:rPr lang="en" altLang="ko-KR" sz="2200" dirty="0"/>
              <a:t xml:space="preserve">  - Clipping 수정: [24:9]&gt;255 → [31:17]!=0 (전체 overflow 감지)</a:t>
            </a:r>
            <a:endParaRPr lang="en" altLang="ko-KR" sz="2200" dirty="0"/>
          </a:p>
          <a:p>
            <a:r>
              <a:rPr lang="en" altLang="ko-KR" sz="2200" dirty="0"/>
              <a:t xml:space="preserve">  - WGT_FILE 경로: sim/log_param → sim/inout_data_sw/log_param</a:t>
            </a:r>
            <a:endParaRPr lang="en" altLang="ko-KR" sz="2200" dirty="0"/>
          </a:p>
          <a:p>
            <a:r>
              <a:rPr lang="ko-KR" altLang="en-US" sz="2400" b="1" dirty="0"/>
              <a:t>시뮬레이션 결과:</a:t>
            </a:r>
            <a:endParaRPr lang="en" altLang="ko-KR" sz="2400" dirty="0"/>
          </a:p>
          <a:p>
            <a:r>
              <a:rPr lang="en" altLang="ko-KR" sz="2200" dirty="0"/>
              <a:t xml:space="preserve">  - BMP 출력: CONV04_output_ch00~ch03 (64x64, 4채널)</a:t>
            </a:r>
            <a:endParaRPr lang="en" altLang="ko-KR" sz="2200" dirty="0"/>
          </a:p>
          <a:p>
            <a:r>
              <a:rPr lang="en" altLang="ko-KR" sz="2200" dirty="0"/>
              <a:t xml:space="preserve">  - SW(CONV04_output.hex) vs HW: [31:17]!=0 clipping 적용 후 일치 확인</a:t>
            </a:r>
            <a:endParaRPr lang="en" altLang="ko-KR" sz="2200" dirty="0"/>
          </a:p>
          <a:p>
            <a:r>
              <a:rPr lang="ko-KR" altLang="en-US" sz="2200" dirty="0"/>
              <a:t xml:space="preserve">  ※ 이미지 및 파형 캡처 별도 삽입 예정</a:t>
            </a:r>
            <a:endParaRPr lang="en" altLang="ko-KR" sz="2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/>
              <a:t xml:space="preserve">Deep Learning Hardware </a:t>
            </a:r>
            <a:r>
              <a:rPr lang="ko-KR" altLang="en-US" b="1"/>
              <a:t>설계 경진대회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2620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1774</Words>
  <Application>Microsoft Macintosh PowerPoint</Application>
  <PresentationFormat>와이드스크린</PresentationFormat>
  <Paragraphs>607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7" baseType="lpstr">
      <vt:lpstr>굴림</vt:lpstr>
      <vt:lpstr>나눔바른고딕</vt:lpstr>
      <vt:lpstr>맑은 고딕</vt:lpstr>
      <vt:lpstr>Arial Unicode MS</vt:lpstr>
      <vt:lpstr>MS PGothic</vt:lpstr>
      <vt:lpstr>Arial</vt:lpstr>
      <vt:lpstr>Arial Narrow</vt:lpstr>
      <vt:lpstr>Century</vt:lpstr>
      <vt:lpstr>Helvetica</vt:lpstr>
      <vt:lpstr>Symbol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Inyoub Kim</dc:creator>
  <cp:lastModifiedBy>최승윤</cp:lastModifiedBy>
  <cp:revision>67</cp:revision>
  <dcterms:created xsi:type="dcterms:W3CDTF">2021-03-04T02:28:42Z</dcterms:created>
  <dcterms:modified xsi:type="dcterms:W3CDTF">2026-02-25T06:30:20Z</dcterms:modified>
</cp:coreProperties>
</file>